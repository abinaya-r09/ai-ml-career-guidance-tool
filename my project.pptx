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18"/>
  </p:notesMasterIdLst>
  <p:handoutMasterIdLst>
    <p:handoutMasterId r:id="rId19"/>
  </p:handoutMasterIdLst>
  <p:sldIdLst>
    <p:sldId id="261" r:id="rId5"/>
    <p:sldId id="273" r:id="rId6"/>
    <p:sldId id="315" r:id="rId7"/>
    <p:sldId id="316" r:id="rId8"/>
    <p:sldId id="318" r:id="rId9"/>
    <p:sldId id="317" r:id="rId10"/>
    <p:sldId id="320" r:id="rId11"/>
    <p:sldId id="324" r:id="rId12"/>
    <p:sldId id="325" r:id="rId13"/>
    <p:sldId id="323" r:id="rId14"/>
    <p:sldId id="321" r:id="rId15"/>
    <p:sldId id="322" r:id="rId16"/>
    <p:sldId id="31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8/8/2025</a:t>
            </a:fld>
            <a:endParaRPr lang="en-US">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8/8/2025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2</a:t>
            </a:fld>
            <a:endParaRPr lang="en-US" noProof="0"/>
          </a:p>
        </p:txBody>
      </p:sp>
    </p:spTree>
    <p:extLst>
      <p:ext uri="{BB962C8B-B14F-4D97-AF65-F5344CB8AC3E}">
        <p14:creationId xmlns:p14="http://schemas.microsoft.com/office/powerpoint/2010/main" val="74491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3</a:t>
            </a:fld>
            <a:endParaRPr lang="en-US" noProof="0"/>
          </a:p>
        </p:txBody>
      </p:sp>
    </p:spTree>
    <p:extLst>
      <p:ext uri="{BB962C8B-B14F-4D97-AF65-F5344CB8AC3E}">
        <p14:creationId xmlns:p14="http://schemas.microsoft.com/office/powerpoint/2010/main" val="814475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a:t>I</a:t>
            </a:r>
            <a:endParaRPr lang="en-GB"/>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a:t>I</a:t>
            </a:r>
            <a:endParaRPr lang="en-GB"/>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a:t>I</a:t>
            </a:r>
            <a:endParaRPr lang="en-GB"/>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a:t>I</a:t>
            </a:r>
            <a:endParaRPr lang="en-GB"/>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a:t>Insert Image</a:t>
            </a:r>
            <a:endParaRPr lang="en-GB"/>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a:t>Insert Image</a:t>
            </a:r>
            <a:endParaRPr lang="en-GB"/>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a:t>I</a:t>
            </a:r>
            <a:endParaRPr lang="en-GB"/>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a:t>Insert Image</a:t>
            </a:r>
            <a:endParaRPr lang="en-GB"/>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a:t>I</a:t>
            </a:r>
            <a:endParaRPr lang="en-GB"/>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a:t>I</a:t>
            </a:r>
            <a:endParaRPr lang="en-GB"/>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a:t>Insert Image</a:t>
            </a:r>
            <a:endParaRPr lang="en-GB"/>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a:t>Click to edit Master title style</a:t>
            </a:r>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a:t>Insert Image</a:t>
            </a:r>
            <a:endParaRPr lang="en-GB"/>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a:t>Click to edit Master title style</a:t>
            </a:r>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a:t>Insert Image</a:t>
            </a:r>
            <a:endParaRPr lang="en-GB"/>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a:t>Insert Image</a:t>
            </a:r>
            <a:endParaRPr lang="en-GB"/>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a:t>I</a:t>
            </a:r>
            <a:endParaRPr lang="en-GB"/>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a:t>Important Content</a:t>
            </a:r>
            <a:endParaRPr lang="en-GB"/>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a:t>Click to edit Master title style</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a:t>Click to edit Master title style</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a:t>Insert Image</a:t>
            </a:r>
            <a:endParaRPr lang="en-GB"/>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a:t>Insert Image</a:t>
            </a:r>
            <a:endParaRPr lang="en-GB"/>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a:t>Insert Image</a:t>
            </a:r>
            <a:endParaRPr lang="en-GB"/>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a:t>I</a:t>
            </a:r>
            <a:endParaRPr lang="en-GB"/>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a:t>Insert Image</a:t>
            </a:r>
            <a:endParaRPr lang="en-GB"/>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a:t>I</a:t>
            </a:r>
            <a:endParaRPr lang="en-GB"/>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a:t>I</a:t>
            </a:r>
            <a:endParaRPr lang="en-GB"/>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a:t>Insert Image</a:t>
            </a:r>
            <a:endParaRPr lang="en-GB"/>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a:t>I</a:t>
            </a:r>
            <a:endParaRPr lang="en-GB"/>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a:t>I</a:t>
            </a:r>
            <a:endParaRPr lang="en-GB"/>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a:t>Insert Image</a:t>
            </a:r>
            <a:endParaRPr lang="en-GB"/>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a:t>I</a:t>
            </a:r>
            <a:endParaRPr lang="en-GB"/>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a:t>I</a:t>
            </a:r>
            <a:endParaRPr lang="en-GB"/>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a:t>Insert Image</a:t>
            </a:r>
            <a:endParaRPr lang="en-GB"/>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a:t>I</a:t>
            </a:r>
            <a:endParaRPr lang="en-GB"/>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a:t>I</a:t>
            </a:r>
            <a:endParaRPr lang="en-GB"/>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a:t>Insert Image</a:t>
            </a:r>
            <a:endParaRPr lang="en-GB"/>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a:t>I</a:t>
            </a:r>
            <a:endParaRPr lang="en-GB"/>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a:t>THANK </a:t>
            </a:r>
            <a:r>
              <a:rPr lang="en-US" err="1"/>
              <a:t>yOU</a:t>
            </a:r>
            <a:endParaRPr lang="en-US"/>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a:t>Insert Image</a:t>
            </a:r>
            <a:endParaRPr lang="en-GB"/>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a:t>I</a:t>
            </a:r>
            <a:endParaRPr lang="en-GB"/>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a:t>THANK </a:t>
            </a:r>
            <a:r>
              <a:rPr lang="en-US" err="1"/>
              <a:t>yOU</a:t>
            </a:r>
            <a:endParaRPr lang="en-US"/>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a:t>I</a:t>
            </a:r>
            <a:endParaRPr lang="en-GB"/>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a:t>Insert Image</a:t>
            </a:r>
            <a:endParaRPr lang="en-GB"/>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a:t>THANK </a:t>
            </a:r>
            <a:r>
              <a:rPr lang="en-US" err="1"/>
              <a:t>yOU</a:t>
            </a:r>
            <a:endParaRPr lang="en-US"/>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a:t>Insert Image</a:t>
            </a:r>
            <a:endParaRPr lang="en-GB"/>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a:t>THANK </a:t>
            </a:r>
            <a:r>
              <a:rPr lang="en-US" err="1"/>
              <a:t>yOU</a:t>
            </a:r>
            <a:endParaRPr lang="en-US"/>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a:t>I</a:t>
            </a:r>
            <a:endParaRPr lang="en-GB"/>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Text Placeholder 284">
            <a:extLst>
              <a:ext uri="{FF2B5EF4-FFF2-40B4-BE49-F238E27FC236}">
                <a16:creationId xmlns:a16="http://schemas.microsoft.com/office/drawing/2014/main" id="{C0BF9B80-F084-4423-8C1C-E79BE829875F}"/>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a:xfrm>
            <a:off x="2330450" y="762000"/>
            <a:ext cx="7810500" cy="5638800"/>
          </a:xfrm>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2330450" y="1869064"/>
            <a:ext cx="7688621" cy="2404560"/>
          </a:xfrm>
        </p:spPr>
        <p:txBody>
          <a:bodyPr>
            <a:noAutofit/>
          </a:bodyPr>
          <a:lstStyle/>
          <a:p>
            <a:r>
              <a:rPr lang="en-US" sz="4000" dirty="0">
                <a:latin typeface="Algerian" panose="04020705040A02060702" pitchFamily="82" charset="0"/>
              </a:rPr>
              <a:t>Artificial and machine learning-based CAREER GUIDANCE TOOL</a:t>
            </a:r>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5843783" y="4016592"/>
            <a:ext cx="3009352" cy="1512168"/>
          </a:xfrm>
        </p:spPr>
        <p:txBody>
          <a:bodyPr>
            <a:normAutofit/>
          </a:bodyPr>
          <a:lstStyle/>
          <a:p>
            <a:r>
              <a:rPr lang="en-US" b="1" dirty="0">
                <a:latin typeface="Algerian" panose="04020705040A02060702" pitchFamily="82" charset="0"/>
              </a:rPr>
              <a:t>PRESENTED BY:</a:t>
            </a:r>
          </a:p>
          <a:p>
            <a:endParaRPr lang="en-US" dirty="0">
              <a:latin typeface="Algerian" panose="04020705040A02060702" pitchFamily="82" charset="0"/>
            </a:endParaRPr>
          </a:p>
          <a:p>
            <a:r>
              <a:rPr lang="en-US" dirty="0">
                <a:latin typeface="Algerian" panose="04020705040A02060702" pitchFamily="82" charset="0"/>
              </a:rPr>
              <a:t>ABINAYA.R</a:t>
            </a:r>
          </a:p>
          <a:p>
            <a:endParaRPr lang="en-US" dirty="0">
              <a:latin typeface="Algerian" panose="04020705040A02060702" pitchFamily="82" charset="0"/>
            </a:endParaRPr>
          </a:p>
          <a:p>
            <a:endParaRPr lang="en-US" dirty="0"/>
          </a:p>
        </p:txBody>
      </p:sp>
    </p:spTree>
    <p:extLst>
      <p:ext uri="{BB962C8B-B14F-4D97-AF65-F5344CB8AC3E}">
        <p14:creationId xmlns:p14="http://schemas.microsoft.com/office/powerpoint/2010/main" val="313522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normAutofit fontScale="90000"/>
          </a:bodyPr>
          <a:lstStyle/>
          <a:p>
            <a:r>
              <a:rPr lang="en-US" sz="4400" dirty="0">
                <a:latin typeface="Algerian" panose="04020705040A02060702" pitchFamily="82" charset="0"/>
              </a:rPr>
              <a:t>ABSTRACT:</a:t>
            </a:r>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a:xfrm>
            <a:off x="951653" y="1961499"/>
            <a:ext cx="10288693" cy="4744101"/>
          </a:xfrm>
        </p:spPr>
        <p:txBody>
          <a:bodyPr>
            <a:normAutofit/>
          </a:bodyPr>
          <a:lstStyle/>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The AIML-based career guidance tool utilizes artificial intelligence and machine learning to deliver personalized career advice tailored to individual users. By analyzing skills, interests, academic performance, and real-time labor market trends, it provides customized career pathways and educational recommendations.</a:t>
            </a:r>
          </a:p>
          <a:p>
            <a:pPr marL="0" indent="0">
              <a:buNone/>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The tool enhances user engagement and decision-making, empowering students and job seekers to make informed career choices and adapt to evolving job markets</a:t>
            </a:r>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2</a:t>
            </a:fld>
            <a:endParaRPr lang="en-US"/>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074725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754E-860B-EEE2-4594-C1963C5D2F44}"/>
              </a:ext>
            </a:extLst>
          </p:cNvPr>
          <p:cNvSpPr>
            <a:spLocks noGrp="1"/>
          </p:cNvSpPr>
          <p:nvPr>
            <p:ph type="title"/>
          </p:nvPr>
        </p:nvSpPr>
        <p:spPr/>
        <p:txBody>
          <a:bodyPr/>
          <a:lstStyle/>
          <a:p>
            <a:r>
              <a:rPr lang="en-US" dirty="0">
                <a:latin typeface="Algerian" panose="04020705040A02060702" pitchFamily="82" charset="0"/>
              </a:rPr>
              <a:t>Existing systems</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13DB0E7C-26AC-7809-F149-60066FA38D8E}"/>
              </a:ext>
            </a:extLst>
          </p:cNvPr>
          <p:cNvSpPr>
            <a:spLocks noGrp="1"/>
          </p:cNvSpPr>
          <p:nvPr>
            <p:ph sz="quarter" idx="13"/>
          </p:nvPr>
        </p:nvSpPr>
        <p:spPr>
          <a:xfrm>
            <a:off x="1065107" y="2054942"/>
            <a:ext cx="10288693" cy="4027118"/>
          </a:xfrm>
        </p:spPr>
        <p:txBody>
          <a:bodyPr>
            <a:normAutofit lnSpcReduction="10000"/>
          </a:bodyPr>
          <a:lstStyle/>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Manual Counseling: One-on-one sessions with career counselors who provide advice based on their experience and knowledge.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Standardized Tests: Use of standardized aptitude and personality tests to determine suitable career options.</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Static Databases: Access to job databases and career information that do not account for individual preferences or real-time labor market changes.</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Limited Personalization: Recommendations are often generic and not tailored to individual needs, interests, and evolving career goals.</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Time-Consuming: The process of gathering information and receiving feedback can be lengthy and inefficient.</a:t>
            </a:r>
            <a:endParaRPr lang="en-IN" sz="24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26BFB9FF-51C0-37D5-E06D-3785DA3126B6}"/>
              </a:ext>
            </a:extLst>
          </p:cNvPr>
          <p:cNvSpPr>
            <a:spLocks noGrp="1"/>
          </p:cNvSpPr>
          <p:nvPr>
            <p:ph type="sldNum" sz="quarter" idx="4"/>
          </p:nvPr>
        </p:nvSpPr>
        <p:spPr/>
        <p:txBody>
          <a:bodyPr/>
          <a:lstStyle/>
          <a:p>
            <a:fld id="{4FAB73BC-B049-4115-A692-8D63A059BFB8}" type="slidenum">
              <a:rPr lang="en-US" noProof="0" smtClean="0"/>
              <a:pPr/>
              <a:t>3</a:t>
            </a:fld>
            <a:endParaRPr lang="en-US" noProof="0"/>
          </a:p>
        </p:txBody>
      </p:sp>
    </p:spTree>
    <p:extLst>
      <p:ext uri="{BB962C8B-B14F-4D97-AF65-F5344CB8AC3E}">
        <p14:creationId xmlns:p14="http://schemas.microsoft.com/office/powerpoint/2010/main" val="1572073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7FE7-BE27-B287-DE35-F4D32E94290A}"/>
              </a:ext>
            </a:extLst>
          </p:cNvPr>
          <p:cNvSpPr>
            <a:spLocks noGrp="1"/>
          </p:cNvSpPr>
          <p:nvPr>
            <p:ph type="title"/>
          </p:nvPr>
        </p:nvSpPr>
        <p:spPr/>
        <p:txBody>
          <a:bodyPr/>
          <a:lstStyle/>
          <a:p>
            <a:r>
              <a:rPr lang="en-US" dirty="0">
                <a:latin typeface="Algerian" panose="04020705040A02060702" pitchFamily="82" charset="0"/>
              </a:rPr>
              <a:t>Proposed systems</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90C34B59-05E6-67F8-26EA-9CF80E595F2E}"/>
              </a:ext>
            </a:extLst>
          </p:cNvPr>
          <p:cNvSpPr>
            <a:spLocks noGrp="1"/>
          </p:cNvSpPr>
          <p:nvPr>
            <p:ph sz="quarter" idx="13"/>
          </p:nvPr>
        </p:nvSpPr>
        <p:spPr>
          <a:xfrm>
            <a:off x="776749" y="1962709"/>
            <a:ext cx="10577052" cy="4615071"/>
          </a:xfrm>
        </p:spPr>
        <p:txBody>
          <a:bodyPr>
            <a:normAutofit lnSpcReduction="10000"/>
          </a:bodyPr>
          <a:lstStyle/>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Personalized Recommendations: Using AI algorithms to analyze user profiles, including skills, interests, education, and work experience, to offer tailored career advice.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Real-Time Labor Market Analysis: Incorporating real-time labor market data to ensure recommendations align with current job trends and demands.</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Adaptive Learning: Utilizing machine learning to continuously improve the accuracy and relevance of career recommendations based on user interactions and feedback.</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Natural Language Processing (NLP): Implementing NLP to understand user queries and intuitively provide relevant information and advice.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Skill Gap Analysis: Identifying gaps in the user's skillset and recommending specific courses, and certificate training programs to enhance career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573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33E4-29DF-CE00-D065-B88B090420B8}"/>
              </a:ext>
            </a:extLst>
          </p:cNvPr>
          <p:cNvSpPr>
            <a:spLocks noGrp="1"/>
          </p:cNvSpPr>
          <p:nvPr>
            <p:ph type="title"/>
          </p:nvPr>
        </p:nvSpPr>
        <p:spPr>
          <a:xfrm>
            <a:off x="273336" y="292509"/>
            <a:ext cx="10805160" cy="707886"/>
          </a:xfrm>
        </p:spPr>
        <p:txBody>
          <a:bodyPr>
            <a:noAutofit/>
          </a:bodyPr>
          <a:lstStyle/>
          <a:p>
            <a:r>
              <a:rPr lang="en-US" sz="3200" b="1" dirty="0">
                <a:latin typeface="Algerian" panose="04020705040A02060702" pitchFamily="82" charset="0"/>
              </a:rPr>
              <a:t>TOOLS FOR IMPLEMENTATION AND ITS JUSTIFICATION</a:t>
            </a:r>
            <a:endParaRPr lang="en-IN" sz="3200" b="1" dirty="0">
              <a:latin typeface="Algerian" panose="04020705040A02060702" pitchFamily="82" charset="0"/>
            </a:endParaRPr>
          </a:p>
        </p:txBody>
      </p:sp>
      <p:sp>
        <p:nvSpPr>
          <p:cNvPr id="3" name="Content Placeholder 2">
            <a:extLst>
              <a:ext uri="{FF2B5EF4-FFF2-40B4-BE49-F238E27FC236}">
                <a16:creationId xmlns:a16="http://schemas.microsoft.com/office/drawing/2014/main" id="{948E4B19-E740-1EED-DCA1-D61D53C7D439}"/>
              </a:ext>
            </a:extLst>
          </p:cNvPr>
          <p:cNvSpPr>
            <a:spLocks noGrp="1"/>
          </p:cNvSpPr>
          <p:nvPr>
            <p:ph sz="quarter" idx="13"/>
          </p:nvPr>
        </p:nvSpPr>
        <p:spPr>
          <a:xfrm>
            <a:off x="654091" y="1295364"/>
            <a:ext cx="11183948" cy="5347310"/>
          </a:xfrm>
        </p:spPr>
        <p:txBody>
          <a:bodyPr>
            <a:normAutofit lnSpcReduction="10000"/>
          </a:bodyPr>
          <a:lstStyle/>
          <a:p>
            <a:pPr>
              <a:buFont typeface="Wingdings" panose="05000000000000000000" pitchFamily="2" charset="2"/>
              <a:buChar char="q"/>
            </a:pPr>
            <a:r>
              <a:rPr lang="en-US" sz="2400" b="1" dirty="0">
                <a:latin typeface="Algerian" panose="04020705040A02060702" pitchFamily="82" charset="0"/>
              </a:rPr>
              <a:t>Python :</a:t>
            </a:r>
          </a:p>
          <a:p>
            <a:pPr>
              <a:buFont typeface="Wingdings" panose="05000000000000000000" pitchFamily="2" charset="2"/>
              <a:buChar char="ü"/>
            </a:pPr>
            <a:r>
              <a:rPr lang="en-US" sz="2400" dirty="0"/>
              <a:t> </a:t>
            </a:r>
            <a:r>
              <a:rPr lang="en-US" sz="2400" dirty="0">
                <a:latin typeface="Times New Roman" panose="02020603050405020304" pitchFamily="18" charset="0"/>
                <a:cs typeface="Times New Roman" panose="02020603050405020304" pitchFamily="18" charset="0"/>
              </a:rPr>
              <a:t>Widely used for AI/ML due to simplicity Pandas, NumPy (data analysis), and TensorFlow,  (machine learning).</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b="1" dirty="0">
                <a:latin typeface="Algerian" panose="04020705040A02060702" pitchFamily="82" charset="0"/>
              </a:rPr>
              <a:t>Java script:</a:t>
            </a:r>
          </a:p>
          <a:p>
            <a:pPr marL="0" indent="0">
              <a:buNone/>
            </a:pPr>
            <a:r>
              <a:rPr lang="en-US" sz="2400" dirty="0">
                <a:latin typeface="Times New Roman" panose="02020603050405020304" pitchFamily="18" charset="0"/>
                <a:cs typeface="Times New Roman" panose="02020603050405020304" pitchFamily="18" charset="0"/>
              </a:rPr>
              <a:t>Enhances user experience by enabling dynamic content and interactivity.</a:t>
            </a:r>
          </a:p>
          <a:p>
            <a:pPr>
              <a:buFont typeface="Wingdings" panose="05000000000000000000" pitchFamily="2" charset="2"/>
              <a:buChar char="q"/>
            </a:pPr>
            <a:r>
              <a:rPr lang="en-US" sz="2400" b="1" dirty="0">
                <a:latin typeface="Algerian" panose="04020705040A02060702" pitchFamily="82" charset="0"/>
              </a:rPr>
              <a:t>TensorFlow:</a:t>
            </a:r>
          </a:p>
          <a:p>
            <a:pPr>
              <a:buFont typeface="Wingdings" panose="05000000000000000000" pitchFamily="2" charset="2"/>
              <a:buChar char="ü"/>
            </a:pPr>
            <a:r>
              <a:rPr lang="en-US" sz="2400" dirty="0"/>
              <a:t> </a:t>
            </a:r>
            <a:r>
              <a:rPr lang="en-US" sz="2400" dirty="0">
                <a:latin typeface="Times New Roman" panose="02020603050405020304" pitchFamily="18" charset="0"/>
                <a:cs typeface="Times New Roman" panose="02020603050405020304" pitchFamily="18" charset="0"/>
              </a:rPr>
              <a:t>For building and deploying machine learning models.</a:t>
            </a:r>
          </a:p>
          <a:p>
            <a:pPr>
              <a:buFont typeface="Wingdings" panose="05000000000000000000" pitchFamily="2" charset="2"/>
              <a:buChar char="q"/>
            </a:pPr>
            <a:r>
              <a:rPr lang="en-US" b="1" dirty="0">
                <a:latin typeface="Algerian" panose="04020705040A02060702" pitchFamily="82" charset="0"/>
              </a:rPr>
              <a:t>NLTK (Natural Language Toolkit):</a:t>
            </a:r>
          </a:p>
          <a:p>
            <a:pPr>
              <a:buFont typeface="Wingdings" panose="05000000000000000000" pitchFamily="2" charset="2"/>
              <a:buChar char="ü"/>
            </a:pPr>
            <a:r>
              <a:rPr lang="en-US" b="1" dirty="0"/>
              <a:t>   </a:t>
            </a:r>
            <a:r>
              <a:rPr lang="en-US" sz="2400" dirty="0">
                <a:latin typeface="Times New Roman" panose="02020603050405020304" pitchFamily="18" charset="0"/>
                <a:cs typeface="Times New Roman" panose="02020603050405020304" pitchFamily="18" charset="0"/>
              </a:rPr>
              <a:t>For processing and analyzing text data.</a:t>
            </a:r>
          </a:p>
          <a:p>
            <a:pPr>
              <a:buFont typeface="Wingdings" panose="05000000000000000000" pitchFamily="2" charset="2"/>
              <a:buChar char="q"/>
            </a:pPr>
            <a:r>
              <a:rPr lang="en-US" b="1" dirty="0">
                <a:latin typeface="Algerian" panose="04020705040A02060702" pitchFamily="82" charset="0"/>
              </a:rPr>
              <a:t>HTML/</a:t>
            </a:r>
            <a:r>
              <a:rPr lang="en-US" b="1" dirty="0" err="1">
                <a:latin typeface="Algerian" panose="04020705040A02060702" pitchFamily="82" charset="0"/>
              </a:rPr>
              <a:t>CSSOverview</a:t>
            </a:r>
            <a:r>
              <a:rPr lang="en-US" b="1" dirty="0">
                <a:latin typeface="Algerian" panose="04020705040A02060702" pitchFamily="82" charset="0"/>
              </a:rPr>
              <a:t>:</a:t>
            </a:r>
          </a:p>
          <a:p>
            <a:pPr>
              <a:buFont typeface="Wingdings" panose="05000000000000000000" pitchFamily="2" charset="2"/>
              <a:buChar char="ü"/>
            </a:pPr>
            <a:r>
              <a:rPr lang="en-US" b="1" dirty="0"/>
              <a:t>    </a:t>
            </a:r>
            <a:r>
              <a:rPr lang="en-US" sz="2400" dirty="0">
                <a:latin typeface="Times New Roman" panose="02020603050405020304" pitchFamily="18" charset="0"/>
                <a:cs typeface="Times New Roman" panose="02020603050405020304" pitchFamily="18" charset="0"/>
              </a:rPr>
              <a:t>The foundational languages for web development are Structure (HTML) and style (CSS) the user interface of career guidance tools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299588B3-B65F-C42D-9D5A-9D81C2A8474D}"/>
              </a:ext>
            </a:extLst>
          </p:cNvPr>
          <p:cNvSpPr>
            <a:spLocks noGrp="1"/>
          </p:cNvSpPr>
          <p:nvPr>
            <p:ph type="sldNum" sz="quarter" idx="4"/>
          </p:nvPr>
        </p:nvSpPr>
        <p:spPr>
          <a:xfrm>
            <a:off x="10480711" y="215326"/>
            <a:ext cx="1524477" cy="365760"/>
          </a:xfrm>
        </p:spPr>
        <p:txBody>
          <a:bodyPr/>
          <a:lstStyle/>
          <a:p>
            <a:r>
              <a:rPr lang="en-US" dirty="0"/>
              <a:t>.</a:t>
            </a:r>
            <a:endParaRPr lang="en-US" noProof="0" dirty="0"/>
          </a:p>
        </p:txBody>
      </p:sp>
    </p:spTree>
    <p:extLst>
      <p:ext uri="{BB962C8B-B14F-4D97-AF65-F5344CB8AC3E}">
        <p14:creationId xmlns:p14="http://schemas.microsoft.com/office/powerpoint/2010/main" val="60437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3EC516-53D9-401C-4874-4E46C3D2B104}"/>
              </a:ext>
            </a:extLst>
          </p:cNvPr>
          <p:cNvSpPr>
            <a:spLocks noGrp="1"/>
          </p:cNvSpPr>
          <p:nvPr>
            <p:ph sz="quarter" idx="13"/>
          </p:nvPr>
        </p:nvSpPr>
        <p:spPr>
          <a:xfrm>
            <a:off x="479376" y="764704"/>
            <a:ext cx="10288693" cy="5805264"/>
          </a:xfrm>
        </p:spPr>
        <p:txBody>
          <a:bodyPr>
            <a:normAutofit fontScale="92500" lnSpcReduction="10000"/>
          </a:bodyPr>
          <a:lstStyle/>
          <a:p>
            <a:pPr>
              <a:buFont typeface="Wingdings" panose="05000000000000000000" pitchFamily="2" charset="2"/>
              <a:buChar char="q"/>
            </a:pPr>
            <a:r>
              <a:rPr lang="en-IN" b="1" dirty="0">
                <a:latin typeface="Algerian" panose="04020705040A02060702" pitchFamily="82" charset="0"/>
              </a:rPr>
              <a:t>Natural Language Processing (NLP) Tools:</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NLTK (Natural Language Toolkit): For processing and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text data.</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spaCy</a:t>
            </a:r>
            <a:r>
              <a:rPr lang="en-IN" dirty="0">
                <a:latin typeface="Times New Roman" panose="02020603050405020304" pitchFamily="18" charset="0"/>
                <a:cs typeface="Times New Roman" panose="02020603050405020304" pitchFamily="18" charset="0"/>
              </a:rPr>
              <a:t>: For advanced NLP tasks, including named entity recognition and part-of-speech tagging.</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 BERT (Bidirectional Encoder Representations from Transformers): For understanding context and improving the accuracy of text-based user inputs.</a:t>
            </a:r>
          </a:p>
          <a:p>
            <a:pPr>
              <a:buFont typeface="Wingdings" panose="05000000000000000000" pitchFamily="2" charset="2"/>
              <a:buChar char="q"/>
            </a:pPr>
            <a:r>
              <a:rPr lang="en-IN" b="1" dirty="0">
                <a:latin typeface="Algerian" panose="04020705040A02060702" pitchFamily="82" charset="0"/>
              </a:rPr>
              <a:t>Data Storage and Management:</a:t>
            </a:r>
          </a:p>
          <a:p>
            <a:pPr>
              <a:buFont typeface="Wingdings" panose="05000000000000000000" pitchFamily="2" charset="2"/>
              <a:buChar char="ü"/>
            </a:pPr>
            <a:r>
              <a:rPr lang="en-IN" dirty="0"/>
              <a:t> </a:t>
            </a:r>
            <a:r>
              <a:rPr lang="en-IN" dirty="0">
                <a:latin typeface="Times New Roman" panose="02020603050405020304" pitchFamily="18" charset="0"/>
                <a:cs typeface="Times New Roman" panose="02020603050405020304" pitchFamily="18" charset="0"/>
              </a:rPr>
              <a:t>SQL Databases (e.g., PostgreSQL, MySQL): For structured data storage</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 NoSQL Databases (e.g., MongoDB, Firebase): </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For unstructured data and flexible schema design.</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 Data Lakes (e.g., Amazon S3, Google Cloud Storage): For storing large volumes of raw data.</a:t>
            </a:r>
          </a:p>
          <a:p>
            <a:pPr>
              <a:buFont typeface="Wingdings" panose="05000000000000000000" pitchFamily="2" charset="2"/>
              <a:buChar char="q"/>
            </a:pPr>
            <a:r>
              <a:rPr lang="en-IN" b="1" dirty="0">
                <a:latin typeface="Algerian" panose="04020705040A02060702" pitchFamily="82" charset="0"/>
              </a:rPr>
              <a:t>Data Processing and Analysis:</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 Pandas: For data manipulation and analysis.</a:t>
            </a:r>
          </a:p>
          <a:p>
            <a:pPr marL="0" indent="0">
              <a:buNone/>
            </a:pPr>
            <a:r>
              <a:rPr lang="en-IN" dirty="0">
                <a:latin typeface="Times New Roman" panose="02020603050405020304" pitchFamily="18" charset="0"/>
                <a:cs typeface="Times New Roman" panose="02020603050405020304" pitchFamily="18" charset="0"/>
              </a:rPr>
              <a:t> NumPy: For numerical operations and data manipulation.</a:t>
            </a:r>
          </a:p>
          <a:p>
            <a:pPr marL="0" indent="0">
              <a:buNone/>
            </a:pPr>
            <a:r>
              <a:rPr lang="en-IN" dirty="0">
                <a:latin typeface="Times New Roman" panose="02020603050405020304" pitchFamily="18" charset="0"/>
                <a:cs typeface="Times New Roman" panose="02020603050405020304" pitchFamily="18" charset="0"/>
              </a:rPr>
              <a:t> Apache Spark: For processing large datasets and performing big data analytics</a:t>
            </a:r>
          </a:p>
        </p:txBody>
      </p:sp>
      <p:sp>
        <p:nvSpPr>
          <p:cNvPr id="6" name="Slide Number Placeholder 5">
            <a:extLst>
              <a:ext uri="{FF2B5EF4-FFF2-40B4-BE49-F238E27FC236}">
                <a16:creationId xmlns:a16="http://schemas.microsoft.com/office/drawing/2014/main" id="{68D0A087-9BD9-609A-CFF9-9EF4BE3761EF}"/>
              </a:ext>
            </a:extLst>
          </p:cNvPr>
          <p:cNvSpPr>
            <a:spLocks noGrp="1"/>
          </p:cNvSpPr>
          <p:nvPr>
            <p:ph type="sldNum" sz="quarter" idx="4"/>
          </p:nvPr>
        </p:nvSpPr>
        <p:spPr/>
        <p:txBody>
          <a:bodyPr/>
          <a:lstStyle/>
          <a:p>
            <a:fld id="{4FAB73BC-B049-4115-A692-8D63A059BFB8}" type="slidenum">
              <a:rPr lang="en-US" noProof="0" smtClean="0"/>
              <a:pPr/>
              <a:t>6</a:t>
            </a:fld>
            <a:endParaRPr lang="en-US" noProof="0"/>
          </a:p>
        </p:txBody>
      </p:sp>
    </p:spTree>
    <p:extLst>
      <p:ext uri="{BB962C8B-B14F-4D97-AF65-F5344CB8AC3E}">
        <p14:creationId xmlns:p14="http://schemas.microsoft.com/office/powerpoint/2010/main" val="3717450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76B4-83C0-A713-B4D0-17977136AAFE}"/>
              </a:ext>
            </a:extLst>
          </p:cNvPr>
          <p:cNvSpPr>
            <a:spLocks noGrp="1"/>
          </p:cNvSpPr>
          <p:nvPr>
            <p:ph type="title"/>
          </p:nvPr>
        </p:nvSpPr>
        <p:spPr>
          <a:xfrm>
            <a:off x="236274" y="152400"/>
            <a:ext cx="10833735" cy="1279386"/>
          </a:xfrm>
        </p:spPr>
        <p:txBody>
          <a:bodyPr/>
          <a:lstStyle/>
          <a:p>
            <a:r>
              <a:rPr lang="en-US" dirty="0">
                <a:latin typeface="Algerian" panose="04020705040A02060702" pitchFamily="82" charset="0"/>
              </a:rPr>
              <a:t>Module:</a:t>
            </a:r>
          </a:p>
        </p:txBody>
      </p:sp>
      <p:sp>
        <p:nvSpPr>
          <p:cNvPr id="3" name="Content Placeholder 2">
            <a:extLst>
              <a:ext uri="{FF2B5EF4-FFF2-40B4-BE49-F238E27FC236}">
                <a16:creationId xmlns:a16="http://schemas.microsoft.com/office/drawing/2014/main" id="{DC27C469-37F0-B93E-DA8A-A137BFD33615}"/>
              </a:ext>
            </a:extLst>
          </p:cNvPr>
          <p:cNvSpPr>
            <a:spLocks noGrp="1"/>
          </p:cNvSpPr>
          <p:nvPr>
            <p:ph sz="quarter" idx="13"/>
          </p:nvPr>
        </p:nvSpPr>
        <p:spPr>
          <a:xfrm>
            <a:off x="779928" y="951867"/>
            <a:ext cx="11314015" cy="5454937"/>
          </a:xfrm>
        </p:spPr>
        <p:txBody>
          <a:bodyPr>
            <a:normAutofit lnSpcReduction="10000"/>
          </a:bodyPr>
          <a:lstStyle/>
          <a:p>
            <a:pPr marL="0" indent="0">
              <a:buNone/>
            </a:pPr>
            <a:r>
              <a:rPr lang="en-US" b="1" dirty="0">
                <a:latin typeface="Algerian" panose="04020705040A02060702" pitchFamily="82" charset="0"/>
              </a:rPr>
              <a:t>Data Collection and Preprocessing</a:t>
            </a:r>
            <a:endParaRPr lang="en-IN" b="1" dirty="0">
              <a:latin typeface="Algerian" panose="04020705040A02060702" pitchFamily="82" charset="0"/>
            </a:endParaRPr>
          </a:p>
          <a:p>
            <a:pPr>
              <a:buFont typeface="Wingdings" panose="05000000000000000000" pitchFamily="2" charset="2"/>
              <a:buChar char="q"/>
            </a:pPr>
            <a:r>
              <a:rPr lang="en-US" b="1" dirty="0">
                <a:latin typeface="Algerian" panose="04020705040A02060702" pitchFamily="82" charset="0"/>
              </a:rPr>
              <a:t>Objective</a:t>
            </a:r>
            <a:endParaRPr lang="en-IN" b="1" dirty="0">
              <a:latin typeface="Algerian" panose="04020705040A02060702" pitchFamily="82"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Gather and clean data on various careers, skills, job market trends, and user profiles.</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Tasks: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Collect data from job portals, career websites, and surveys.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Clean and preprocess the data to remove inconsistencies and irrelevant information.</a:t>
            </a: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Algerian" panose="04020705040A02060702" pitchFamily="82" charset="0"/>
              </a:rPr>
              <a:t>C</a:t>
            </a:r>
            <a:r>
              <a:rPr lang="en-US" b="1" dirty="0" err="1">
                <a:latin typeface="Algerian" panose="04020705040A02060702" pitchFamily="82" charset="0"/>
              </a:rPr>
              <a:t>areer</a:t>
            </a:r>
            <a:r>
              <a:rPr lang="en-US" b="1" dirty="0">
                <a:latin typeface="Algerian" panose="04020705040A02060702" pitchFamily="82" charset="0"/>
              </a:rPr>
              <a:t> Information Module</a:t>
            </a:r>
            <a:endParaRPr lang="en-IN" b="1" dirty="0">
              <a:latin typeface="Algerian" panose="04020705040A02060702" pitchFamily="82" charset="0"/>
            </a:endParaRPr>
          </a:p>
          <a:p>
            <a:pPr>
              <a:buFont typeface="Wingdings" panose="05000000000000000000" pitchFamily="2" charset="2"/>
              <a:buChar char="q"/>
            </a:pPr>
            <a:r>
              <a:rPr lang="en-US" b="1" dirty="0">
                <a:latin typeface="Algerian" panose="04020705040A02060702" pitchFamily="82" charset="0"/>
              </a:rPr>
              <a:t>Objective</a:t>
            </a:r>
            <a:r>
              <a:rPr lang="en-IN" b="1" dirty="0">
                <a:latin typeface="Algerian" panose="04020705040A02060702" pitchFamily="82" charset="0"/>
              </a:rPr>
              <a:t>:</a:t>
            </a:r>
            <a:r>
              <a:rPr lang="en-US" b="1" dirty="0">
                <a:latin typeface="Algerian" panose="04020705040A02060702" pitchFamily="82" charset="0"/>
              </a:rPr>
              <a:t> </a:t>
            </a:r>
            <a:endParaRPr lang="en-IN" b="1" dirty="0">
              <a:latin typeface="Algerian" panose="04020705040A02060702" pitchFamily="82"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Provide detailed information about various careers.</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Tasks: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Create a database of career profiles, including job descriptions, required skills, salary ranges, and growth prospects.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Allow users to search and explore different career </a:t>
            </a:r>
            <a:r>
              <a:rPr lang="en-US" dirty="0" err="1">
                <a:latin typeface="Times New Roman" panose="02020603050405020304" pitchFamily="18" charset="0"/>
                <a:cs typeface="Times New Roman" panose="02020603050405020304" pitchFamily="18" charset="0"/>
              </a:rPr>
              <a:t>optio</a:t>
            </a:r>
            <a:r>
              <a:rPr lang="en-IN" dirty="0">
                <a:latin typeface="Times New Roman" panose="02020603050405020304" pitchFamily="18" charset="0"/>
                <a:cs typeface="Times New Roman" panose="02020603050405020304" pitchFamily="18" charset="0"/>
              </a:rPr>
              <a:t>ns.</a:t>
            </a:r>
          </a:p>
        </p:txBody>
      </p:sp>
      <p:sp>
        <p:nvSpPr>
          <p:cNvPr id="6" name="Slide Number Placeholder 5">
            <a:extLst>
              <a:ext uri="{FF2B5EF4-FFF2-40B4-BE49-F238E27FC236}">
                <a16:creationId xmlns:a16="http://schemas.microsoft.com/office/drawing/2014/main" id="{877E1732-A844-15C8-D0B1-A8737FD36A03}"/>
              </a:ext>
            </a:extLst>
          </p:cNvPr>
          <p:cNvSpPr>
            <a:spLocks noGrp="1"/>
          </p:cNvSpPr>
          <p:nvPr>
            <p:ph type="sldNum" sz="quarter" idx="4"/>
          </p:nvPr>
        </p:nvSpPr>
        <p:spPr/>
        <p:txBody>
          <a:bodyPr/>
          <a:lstStyle/>
          <a:p>
            <a:fld id="{4FAB73BC-B049-4115-A692-8D63A059BFB8}" type="slidenum">
              <a:rPr lang="en-US" noProof="0" smtClean="0"/>
              <a:pPr/>
              <a:t>7</a:t>
            </a:fld>
            <a:endParaRPr lang="en-US" noProof="0"/>
          </a:p>
        </p:txBody>
      </p:sp>
    </p:spTree>
    <p:extLst>
      <p:ext uri="{BB962C8B-B14F-4D97-AF65-F5344CB8AC3E}">
        <p14:creationId xmlns:p14="http://schemas.microsoft.com/office/powerpoint/2010/main" val="420893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A7D7B42-3E77-07D7-4517-9731E1F894BB}"/>
              </a:ext>
            </a:extLst>
          </p:cNvPr>
          <p:cNvSpPr>
            <a:spLocks noGrp="1"/>
          </p:cNvSpPr>
          <p:nvPr>
            <p:ph type="title"/>
          </p:nvPr>
        </p:nvSpPr>
        <p:spPr>
          <a:xfrm>
            <a:off x="0" y="2043837"/>
            <a:ext cx="10854565" cy="1385163"/>
          </a:xfrm>
        </p:spPr>
        <p:txBody>
          <a:bodyPr>
            <a:normAutofit/>
          </a:bodyPr>
          <a:lstStyle/>
          <a:p>
            <a:r>
              <a:rPr lang="en-US" sz="5400" dirty="0">
                <a:latin typeface="Algerian" panose="04020705040A02060702" pitchFamily="82" charset="0"/>
              </a:rPr>
              <a:t>PROGRAM</a:t>
            </a:r>
            <a:r>
              <a:rPr lang="en-US" sz="8000" dirty="0">
                <a:latin typeface="Algerian" panose="04020705040A02060702" pitchFamily="82" charset="0"/>
              </a:rPr>
              <a:t>:</a:t>
            </a:r>
            <a:endParaRPr lang="en-IN" sz="5400" dirty="0">
              <a:latin typeface="Algerian" panose="04020705040A02060702" pitchFamily="82" charset="0"/>
            </a:endParaRPr>
          </a:p>
        </p:txBody>
      </p:sp>
      <p:sp>
        <p:nvSpPr>
          <p:cNvPr id="9" name="Text Placeholder 8">
            <a:extLst>
              <a:ext uri="{FF2B5EF4-FFF2-40B4-BE49-F238E27FC236}">
                <a16:creationId xmlns:a16="http://schemas.microsoft.com/office/drawing/2014/main" id="{A8419D98-C8AE-2184-2EC5-880C4644E9ED}"/>
              </a:ext>
            </a:extLst>
          </p:cNvPr>
          <p:cNvSpPr>
            <a:spLocks noGrp="1"/>
          </p:cNvSpPr>
          <p:nvPr>
            <p:ph type="body" sz="quarter" idx="16"/>
          </p:nvPr>
        </p:nvSpPr>
        <p:spPr>
          <a:xfrm>
            <a:off x="11206316" y="-131228"/>
            <a:ext cx="965528" cy="424732"/>
          </a:xfrm>
        </p:spPr>
        <p:txBody>
          <a:bodyPr/>
          <a:lstStyle/>
          <a:p>
            <a:r>
              <a:rPr lang="en-US" dirty="0"/>
              <a:t>.</a:t>
            </a:r>
            <a:endParaRPr lang="en-IN" dirty="0"/>
          </a:p>
        </p:txBody>
      </p:sp>
      <p:sp>
        <p:nvSpPr>
          <p:cNvPr id="6" name="Slide Number Placeholder 5">
            <a:extLst>
              <a:ext uri="{FF2B5EF4-FFF2-40B4-BE49-F238E27FC236}">
                <a16:creationId xmlns:a16="http://schemas.microsoft.com/office/drawing/2014/main" id="{07844EF4-1E5E-9757-9BE7-DBCBC0EBE973}"/>
              </a:ext>
            </a:extLst>
          </p:cNvPr>
          <p:cNvSpPr>
            <a:spLocks noGrp="1"/>
          </p:cNvSpPr>
          <p:nvPr>
            <p:ph type="sldNum" sz="quarter" idx="4"/>
          </p:nvPr>
        </p:nvSpPr>
        <p:spPr>
          <a:xfrm>
            <a:off x="77047" y="6489291"/>
            <a:ext cx="302281" cy="365760"/>
          </a:xfrm>
        </p:spPr>
        <p:txBody>
          <a:bodyPr/>
          <a:lstStyle/>
          <a:p>
            <a:fld id="{4FAB73BC-B049-4115-A692-8D63A059BFB8}" type="slidenum">
              <a:rPr lang="en-US" noProof="0" smtClean="0"/>
              <a:pPr/>
              <a:t>8</a:t>
            </a:fld>
            <a:endParaRPr lang="en-US" noProof="0"/>
          </a:p>
        </p:txBody>
      </p:sp>
      <p:pic>
        <p:nvPicPr>
          <p:cNvPr id="22" name="Picture Placeholder 21">
            <a:extLst>
              <a:ext uri="{FF2B5EF4-FFF2-40B4-BE49-F238E27FC236}">
                <a16:creationId xmlns:a16="http://schemas.microsoft.com/office/drawing/2014/main" id="{AB3A3DB5-47BB-63C7-9ABC-06715C589298}"/>
              </a:ext>
            </a:extLst>
          </p:cNvPr>
          <p:cNvPicPr>
            <a:picLocks noGrp="1" noChangeAspect="1"/>
          </p:cNvPicPr>
          <p:nvPr>
            <p:ph type="pic" sz="quarter" idx="17"/>
          </p:nvPr>
        </p:nvPicPr>
        <p:blipFill>
          <a:blip r:embed="rId2"/>
          <a:srcRect l="7291" t="18611" r="1661" b="17344"/>
          <a:stretch/>
        </p:blipFill>
        <p:spPr>
          <a:xfrm>
            <a:off x="4373745" y="214845"/>
            <a:ext cx="7436761" cy="6195787"/>
          </a:xfrm>
        </p:spPr>
      </p:pic>
      <p:sp>
        <p:nvSpPr>
          <p:cNvPr id="28" name="Content Placeholder 27">
            <a:extLst>
              <a:ext uri="{FF2B5EF4-FFF2-40B4-BE49-F238E27FC236}">
                <a16:creationId xmlns:a16="http://schemas.microsoft.com/office/drawing/2014/main" id="{8336B92D-993D-D10A-9A03-90C8A047F1EB}"/>
              </a:ext>
            </a:extLst>
          </p:cNvPr>
          <p:cNvSpPr>
            <a:spLocks noGrp="1"/>
          </p:cNvSpPr>
          <p:nvPr>
            <p:ph sz="quarter" idx="13"/>
          </p:nvPr>
        </p:nvSpPr>
        <p:spPr>
          <a:xfrm>
            <a:off x="11206316" y="-80577"/>
            <a:ext cx="437041" cy="424732"/>
          </a:xfrm>
        </p:spPr>
        <p:txBody>
          <a:bodyPr/>
          <a:lstStyle/>
          <a:p>
            <a:pPr marL="0" indent="0">
              <a:buNone/>
            </a:pPr>
            <a:r>
              <a:rPr lang="en-US" dirty="0"/>
              <a:t>.</a:t>
            </a:r>
            <a:endParaRPr lang="en-IN" dirty="0"/>
          </a:p>
        </p:txBody>
      </p:sp>
    </p:spTree>
    <p:extLst>
      <p:ext uri="{BB962C8B-B14F-4D97-AF65-F5344CB8AC3E}">
        <p14:creationId xmlns:p14="http://schemas.microsoft.com/office/powerpoint/2010/main" val="3667128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578B760-FC8F-9EB8-6106-F00762FA5436}"/>
              </a:ext>
            </a:extLst>
          </p:cNvPr>
          <p:cNvSpPr>
            <a:spLocks noGrp="1"/>
          </p:cNvSpPr>
          <p:nvPr>
            <p:ph type="title"/>
          </p:nvPr>
        </p:nvSpPr>
        <p:spPr>
          <a:xfrm>
            <a:off x="0" y="-201543"/>
            <a:ext cx="10805160" cy="707886"/>
          </a:xfrm>
        </p:spPr>
        <p:txBody>
          <a:bodyPr/>
          <a:lstStyle/>
          <a:p>
            <a:r>
              <a:rPr lang="en-US" dirty="0"/>
              <a:t>.</a:t>
            </a:r>
            <a:endParaRPr lang="en-IN" dirty="0"/>
          </a:p>
        </p:txBody>
      </p:sp>
      <p:sp>
        <p:nvSpPr>
          <p:cNvPr id="6" name="Slide Number Placeholder 5">
            <a:extLst>
              <a:ext uri="{FF2B5EF4-FFF2-40B4-BE49-F238E27FC236}">
                <a16:creationId xmlns:a16="http://schemas.microsoft.com/office/drawing/2014/main" id="{26A3563A-D4E1-D85E-A6C7-49E060F5B04B}"/>
              </a:ext>
            </a:extLst>
          </p:cNvPr>
          <p:cNvSpPr>
            <a:spLocks noGrp="1"/>
          </p:cNvSpPr>
          <p:nvPr>
            <p:ph type="sldNum" sz="quarter" idx="4"/>
          </p:nvPr>
        </p:nvSpPr>
        <p:spPr/>
        <p:txBody>
          <a:bodyPr/>
          <a:lstStyle/>
          <a:p>
            <a:fld id="{4FAB73BC-B049-4115-A692-8D63A059BFB8}" type="slidenum">
              <a:rPr lang="en-US" noProof="0" smtClean="0"/>
              <a:pPr/>
              <a:t>9</a:t>
            </a:fld>
            <a:endParaRPr lang="en-US" noProof="0"/>
          </a:p>
        </p:txBody>
      </p:sp>
      <p:pic>
        <p:nvPicPr>
          <p:cNvPr id="3" name="Picture 2">
            <a:extLst>
              <a:ext uri="{FF2B5EF4-FFF2-40B4-BE49-F238E27FC236}">
                <a16:creationId xmlns:a16="http://schemas.microsoft.com/office/drawing/2014/main" id="{81999B56-BD4E-7ACF-2888-AB67A4643A43}"/>
              </a:ext>
            </a:extLst>
          </p:cNvPr>
          <p:cNvPicPr>
            <a:picLocks noChangeAspect="1"/>
          </p:cNvPicPr>
          <p:nvPr/>
        </p:nvPicPr>
        <p:blipFill>
          <a:blip r:embed="rId2"/>
          <a:srcRect l="7601" t="10036" r="2981" b="7556"/>
          <a:stretch/>
        </p:blipFill>
        <p:spPr>
          <a:xfrm>
            <a:off x="1976776" y="512251"/>
            <a:ext cx="7796489" cy="5833498"/>
          </a:xfrm>
          <a:prstGeom prst="rect">
            <a:avLst/>
          </a:prstGeom>
        </p:spPr>
      </p:pic>
    </p:spTree>
    <p:extLst>
      <p:ext uri="{BB962C8B-B14F-4D97-AF65-F5344CB8AC3E}">
        <p14:creationId xmlns:p14="http://schemas.microsoft.com/office/powerpoint/2010/main" val="3281944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D0FE1-1108-6A53-CF3C-579E6795E214}"/>
              </a:ext>
            </a:extLst>
          </p:cNvPr>
          <p:cNvSpPr>
            <a:spLocks noGrp="1"/>
          </p:cNvSpPr>
          <p:nvPr>
            <p:ph type="title"/>
          </p:nvPr>
        </p:nvSpPr>
        <p:spPr>
          <a:xfrm>
            <a:off x="68826" y="2789903"/>
            <a:ext cx="4542503" cy="1061884"/>
          </a:xfrm>
        </p:spPr>
        <p:txBody>
          <a:bodyPr/>
          <a:lstStyle/>
          <a:p>
            <a:r>
              <a:rPr lang="en-US" dirty="0">
                <a:latin typeface="Algerian" panose="04020705040A02060702" pitchFamily="82" charset="0"/>
              </a:rPr>
              <a:t>SAMPLE OUTPUT:</a:t>
            </a:r>
            <a:endParaRPr lang="en-IN" dirty="0">
              <a:latin typeface="Algerian" panose="04020705040A02060702" pitchFamily="82" charset="0"/>
            </a:endParaRPr>
          </a:p>
        </p:txBody>
      </p:sp>
      <p:sp>
        <p:nvSpPr>
          <p:cNvPr id="3" name="Slide Number Placeholder 2">
            <a:extLst>
              <a:ext uri="{FF2B5EF4-FFF2-40B4-BE49-F238E27FC236}">
                <a16:creationId xmlns:a16="http://schemas.microsoft.com/office/drawing/2014/main" id="{8E2ECFDF-E0FC-0A81-18CE-DA1F728DC3F6}"/>
              </a:ext>
            </a:extLst>
          </p:cNvPr>
          <p:cNvSpPr>
            <a:spLocks noGrp="1"/>
          </p:cNvSpPr>
          <p:nvPr>
            <p:ph type="sldNum" sz="quarter" idx="4"/>
          </p:nvPr>
        </p:nvSpPr>
        <p:spPr/>
        <p:txBody>
          <a:bodyPr/>
          <a:lstStyle/>
          <a:p>
            <a:fld id="{4FAB73BC-B049-4115-A692-8D63A059BFB8}" type="slidenum">
              <a:rPr lang="en-US" noProof="0" smtClean="0"/>
              <a:pPr/>
              <a:t>10</a:t>
            </a:fld>
            <a:endParaRPr lang="en-US" noProof="0"/>
          </a:p>
        </p:txBody>
      </p:sp>
      <p:pic>
        <p:nvPicPr>
          <p:cNvPr id="8" name="Picture 7">
            <a:extLst>
              <a:ext uri="{FF2B5EF4-FFF2-40B4-BE49-F238E27FC236}">
                <a16:creationId xmlns:a16="http://schemas.microsoft.com/office/drawing/2014/main" id="{A0D35704-9198-9CD3-A004-2E83BB02F648}"/>
              </a:ext>
            </a:extLst>
          </p:cNvPr>
          <p:cNvPicPr>
            <a:picLocks noChangeAspect="1"/>
          </p:cNvPicPr>
          <p:nvPr/>
        </p:nvPicPr>
        <p:blipFill>
          <a:blip r:embed="rId2"/>
          <a:srcRect l="2409" t="3088" r="887" b="6930"/>
          <a:stretch/>
        </p:blipFill>
        <p:spPr>
          <a:xfrm>
            <a:off x="4621161" y="1022555"/>
            <a:ext cx="7502013" cy="4937105"/>
          </a:xfrm>
          <a:prstGeom prst="rect">
            <a:avLst/>
          </a:prstGeom>
        </p:spPr>
      </p:pic>
    </p:spTree>
    <p:extLst>
      <p:ext uri="{BB962C8B-B14F-4D97-AF65-F5344CB8AC3E}">
        <p14:creationId xmlns:p14="http://schemas.microsoft.com/office/powerpoint/2010/main" val="2132272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2DFEAC-6BEA-2B06-BDAC-1696288B6E4A}"/>
              </a:ext>
            </a:extLst>
          </p:cNvPr>
          <p:cNvSpPr>
            <a:spLocks noGrp="1"/>
          </p:cNvSpPr>
          <p:nvPr>
            <p:ph sz="quarter" idx="13"/>
          </p:nvPr>
        </p:nvSpPr>
        <p:spPr>
          <a:xfrm>
            <a:off x="628788" y="341376"/>
            <a:ext cx="10288693" cy="6175248"/>
          </a:xfrm>
        </p:spPr>
        <p:txBody>
          <a:bodyPr/>
          <a:lstStyle/>
          <a:p>
            <a:pPr marL="0" indent="0">
              <a:buNone/>
            </a:pPr>
            <a:r>
              <a:rPr lang="en-US" b="1" dirty="0">
                <a:latin typeface="Algerian" panose="04020705040A02060702" pitchFamily="82" charset="0"/>
              </a:rPr>
              <a:t>Integration and Deployment</a:t>
            </a:r>
            <a:endParaRPr lang="en-IN" b="1" dirty="0">
              <a:latin typeface="Algerian" panose="04020705040A02060702" pitchFamily="82" charset="0"/>
            </a:endParaRPr>
          </a:p>
          <a:p>
            <a:pPr marL="0" indent="0">
              <a:buNone/>
            </a:pPr>
            <a:r>
              <a:rPr lang="en-US" b="1" dirty="0">
                <a:latin typeface="Algerian" panose="04020705040A02060702" pitchFamily="82" charset="0"/>
              </a:rPr>
              <a:t>Objective</a:t>
            </a:r>
            <a:r>
              <a:rPr lang="en-US" dirty="0">
                <a:latin typeface="Algerian" panose="04020705040A02060702" pitchFamily="82" charset="0"/>
              </a:rPr>
              <a:t>:</a:t>
            </a:r>
            <a:endParaRPr lang="en-IN" dirty="0">
              <a:latin typeface="Algerian" panose="04020705040A02060702" pitchFamily="82" charset="0"/>
            </a:endParaRPr>
          </a:p>
          <a:p>
            <a:pPr>
              <a:buFont typeface="Wingdings" panose="05000000000000000000" pitchFamily="2" charset="2"/>
              <a:buChar char="ü"/>
            </a:pPr>
            <a:r>
              <a:rPr lang="en-US" dirty="0"/>
              <a:t> </a:t>
            </a:r>
            <a:r>
              <a:rPr lang="en-US" dirty="0">
                <a:latin typeface="Times New Roman" panose="02020603050405020304" pitchFamily="18" charset="0"/>
                <a:cs typeface="Times New Roman" panose="02020603050405020304" pitchFamily="18" charset="0"/>
              </a:rPr>
              <a:t>Integrate all modules and deploy the application.</a:t>
            </a:r>
            <a:endParaRPr lang="en-IN" dirty="0">
              <a:latin typeface="Times New Roman" panose="02020603050405020304" pitchFamily="18" charset="0"/>
              <a:cs typeface="Times New Roman" panose="02020603050405020304" pitchFamily="18" charset="0"/>
            </a:endParaRPr>
          </a:p>
          <a:p>
            <a:pPr marL="0" indent="0">
              <a:buNone/>
            </a:pPr>
            <a:r>
              <a:rPr lang="en-US" b="1" dirty="0">
                <a:latin typeface="Algerian" panose="04020705040A02060702" pitchFamily="82" charset="0"/>
              </a:rPr>
              <a:t>Tasks</a:t>
            </a:r>
            <a:r>
              <a:rPr lang="en-US" dirty="0">
                <a:latin typeface="Algerian" panose="04020705040A02060702" pitchFamily="82" charset="0"/>
              </a:rPr>
              <a:t>:</a:t>
            </a:r>
            <a:endParaRPr lang="en-IN" dirty="0">
              <a:latin typeface="Algerian" panose="04020705040A02060702" pitchFamily="82"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Integrate the backend with the frontend.</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Deploy the application on a cloud platform like AWS, Azure, or Google Cloud.</a:t>
            </a:r>
            <a:endParaRPr lang="en-IN" dirty="0">
              <a:latin typeface="Times New Roman" panose="02020603050405020304" pitchFamily="18" charset="0"/>
              <a:cs typeface="Times New Roman" panose="02020603050405020304" pitchFamily="18" charset="0"/>
            </a:endParaRPr>
          </a:p>
          <a:p>
            <a:pPr marL="0" indent="0">
              <a:buNone/>
            </a:pPr>
            <a:r>
              <a:rPr lang="en-US" b="1" dirty="0">
                <a:latin typeface="Algerian" panose="04020705040A02060702" pitchFamily="82" charset="0"/>
                <a:cs typeface="Times New Roman" panose="02020603050405020304" pitchFamily="18" charset="0"/>
              </a:rPr>
              <a:t>Feedback and Improvement Module</a:t>
            </a:r>
            <a:endParaRPr lang="en-IN" b="1" dirty="0">
              <a:latin typeface="Algerian" panose="04020705040A02060702" pitchFamily="82" charset="0"/>
              <a:cs typeface="Times New Roman" panose="02020603050405020304" pitchFamily="18" charset="0"/>
            </a:endParaRPr>
          </a:p>
          <a:p>
            <a:pPr marL="0" indent="0">
              <a:buNone/>
            </a:pPr>
            <a:r>
              <a:rPr lang="en-US" b="1" dirty="0">
                <a:latin typeface="Algerian" panose="04020705040A02060702" pitchFamily="82" charset="0"/>
                <a:cs typeface="Times New Roman" panose="02020603050405020304" pitchFamily="18" charset="0"/>
              </a:rPr>
              <a:t>Objective</a:t>
            </a:r>
            <a:r>
              <a:rPr lang="en-US" dirty="0">
                <a:latin typeface="Algerian" panose="04020705040A02060702" pitchFamily="82" charset="0"/>
                <a:cs typeface="Times New Roman" panose="02020603050405020304" pitchFamily="18" charset="0"/>
              </a:rPr>
              <a:t>: </a:t>
            </a:r>
            <a:endParaRPr lang="en-IN" dirty="0">
              <a:latin typeface="Algerian" panose="04020705040A02060702" pitchFamily="82"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Collect user feedback to improve the system</a:t>
            </a:r>
            <a:endParaRPr lang="en-IN" dirty="0">
              <a:latin typeface="Times New Roman" panose="02020603050405020304" pitchFamily="18" charset="0"/>
              <a:cs typeface="Times New Roman" panose="02020603050405020304" pitchFamily="18" charset="0"/>
            </a:endParaRPr>
          </a:p>
          <a:p>
            <a:pPr marL="0" indent="0">
              <a:buNone/>
            </a:pPr>
            <a:r>
              <a:rPr lang="en-US" b="1" dirty="0">
                <a:latin typeface="Algerian" panose="04020705040A02060702" pitchFamily="82" charset="0"/>
                <a:cs typeface="Times New Roman" panose="02020603050405020304" pitchFamily="18" charset="0"/>
              </a:rPr>
              <a:t>Tasks</a:t>
            </a:r>
            <a:endParaRPr lang="en-IN" b="1" dirty="0">
              <a:latin typeface="Algerian" panose="04020705040A02060702" pitchFamily="82"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Implement feedback forms for users to rate the recommendations and provide suggestions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Use feedback to refine the recommendation algorithms and improve accuracy</a:t>
            </a:r>
            <a:r>
              <a:rPr lang="en-US" dirty="0"/>
              <a:t>.</a:t>
            </a:r>
          </a:p>
        </p:txBody>
      </p:sp>
      <p:sp>
        <p:nvSpPr>
          <p:cNvPr id="6" name="Slide Number Placeholder 5">
            <a:extLst>
              <a:ext uri="{FF2B5EF4-FFF2-40B4-BE49-F238E27FC236}">
                <a16:creationId xmlns:a16="http://schemas.microsoft.com/office/drawing/2014/main" id="{25F729BC-1857-29A5-CBB9-740C04234DBA}"/>
              </a:ext>
            </a:extLst>
          </p:cNvPr>
          <p:cNvSpPr>
            <a:spLocks noGrp="1"/>
          </p:cNvSpPr>
          <p:nvPr>
            <p:ph type="sldNum" sz="quarter" idx="4"/>
          </p:nvPr>
        </p:nvSpPr>
        <p:spPr/>
        <p:txBody>
          <a:bodyPr/>
          <a:lstStyle/>
          <a:p>
            <a:fld id="{4FAB73BC-B049-4115-A692-8D63A059BFB8}" type="slidenum">
              <a:rPr lang="en-US" noProof="0" smtClean="0"/>
              <a:pPr/>
              <a:t>11</a:t>
            </a:fld>
            <a:endParaRPr lang="en-US" noProof="0"/>
          </a:p>
        </p:txBody>
      </p:sp>
    </p:spTree>
    <p:extLst>
      <p:ext uri="{BB962C8B-B14F-4D97-AF65-F5344CB8AC3E}">
        <p14:creationId xmlns:p14="http://schemas.microsoft.com/office/powerpoint/2010/main" val="1807512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1B083-9C65-67FD-552A-97931BEECE97}"/>
              </a:ext>
            </a:extLst>
          </p:cNvPr>
          <p:cNvSpPr>
            <a:spLocks noGrp="1"/>
          </p:cNvSpPr>
          <p:nvPr>
            <p:ph type="title"/>
          </p:nvPr>
        </p:nvSpPr>
        <p:spPr/>
        <p:txBody>
          <a:bodyPr/>
          <a:lstStyle/>
          <a:p>
            <a:r>
              <a:rPr lang="en-IN" dirty="0">
                <a:latin typeface="Algerian" panose="04020705040A02060702" pitchFamily="82" charset="0"/>
              </a:rPr>
              <a:t>CONCLUSION</a:t>
            </a:r>
            <a:endParaRPr lang="en-US" dirty="0">
              <a:latin typeface="Algerian" panose="04020705040A02060702" pitchFamily="82" charset="0"/>
            </a:endParaRPr>
          </a:p>
        </p:txBody>
      </p:sp>
      <p:sp>
        <p:nvSpPr>
          <p:cNvPr id="3" name="Content Placeholder 2">
            <a:extLst>
              <a:ext uri="{FF2B5EF4-FFF2-40B4-BE49-F238E27FC236}">
                <a16:creationId xmlns:a16="http://schemas.microsoft.com/office/drawing/2014/main" id="{BAA238A2-60AD-309C-8C8F-0162714601E8}"/>
              </a:ext>
            </a:extLst>
          </p:cNvPr>
          <p:cNvSpPr>
            <a:spLocks noGrp="1"/>
          </p:cNvSpPr>
          <p:nvPr>
            <p:ph sz="quarter" idx="13"/>
          </p:nvPr>
        </p:nvSpPr>
        <p:spPr>
          <a:xfrm>
            <a:off x="1464023" y="2285670"/>
            <a:ext cx="9263953" cy="2610794"/>
          </a:xfrm>
        </p:spPr>
        <p:txBody>
          <a:bodyPr/>
          <a:lstStyle/>
          <a:p>
            <a:pPr marL="0" indent="0">
              <a:buNone/>
            </a:pPr>
            <a:r>
              <a:rPr lang="en-US" dirty="0">
                <a:latin typeface="Times New Roman" panose="02020603050405020304" pitchFamily="18" charset="0"/>
                <a:cs typeface="Times New Roman" panose="02020603050405020304" pitchFamily="18" charset="0"/>
              </a:rPr>
              <a:t>Based on your interests, skills, and the insights provided by our AI-driven analysis, pursuing a career in data science appears to be a highly suitable path for you. Strengthening your programming skills and gaining experience through internships or projects will further enhance your prospects. The demand for data scientists is expected to grow significantly over the next decade, providing a stable and lucrative career. We encourage you to continue developing your technical and soft skills to stay competitive in this evolving field. Best of luck in your career journey</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F31384C0-00E0-1A0D-16EA-1E1727C381AD}"/>
              </a:ext>
            </a:extLst>
          </p:cNvPr>
          <p:cNvSpPr>
            <a:spLocks noGrp="1"/>
          </p:cNvSpPr>
          <p:nvPr>
            <p:ph type="sldNum" sz="quarter" idx="4"/>
          </p:nvPr>
        </p:nvSpPr>
        <p:spPr/>
        <p:txBody>
          <a:bodyPr/>
          <a:lstStyle/>
          <a:p>
            <a:fld id="{4FAB73BC-B049-4115-A692-8D63A059BFB8}" type="slidenum">
              <a:rPr lang="en-US" noProof="0" smtClean="0"/>
              <a:pPr/>
              <a:t>12</a:t>
            </a:fld>
            <a:endParaRPr lang="en-US" noProof="0"/>
          </a:p>
        </p:txBody>
      </p:sp>
    </p:spTree>
    <p:extLst>
      <p:ext uri="{BB962C8B-B14F-4D97-AF65-F5344CB8AC3E}">
        <p14:creationId xmlns:p14="http://schemas.microsoft.com/office/powerpoint/2010/main" val="1193327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3F9151-3ADE-2462-4405-1A8C6712B216}"/>
              </a:ext>
            </a:extLst>
          </p:cNvPr>
          <p:cNvSpPr>
            <a:spLocks noGrp="1"/>
          </p:cNvSpPr>
          <p:nvPr>
            <p:ph type="body" sz="quarter" idx="13"/>
          </p:nvPr>
        </p:nvSpPr>
        <p:spPr/>
        <p:txBody>
          <a:bodyPr/>
          <a:lstStyle/>
          <a:p>
            <a:endParaRPr lang="en-IN"/>
          </a:p>
        </p:txBody>
      </p:sp>
      <p:sp>
        <p:nvSpPr>
          <p:cNvPr id="4" name="Title 3">
            <a:extLst>
              <a:ext uri="{FF2B5EF4-FFF2-40B4-BE49-F238E27FC236}">
                <a16:creationId xmlns:a16="http://schemas.microsoft.com/office/drawing/2014/main" id="{3D869873-EDE1-9BBD-290D-4F1B9B00BFB5}"/>
              </a:ext>
            </a:extLst>
          </p:cNvPr>
          <p:cNvSpPr>
            <a:spLocks noGrp="1"/>
          </p:cNvSpPr>
          <p:nvPr>
            <p:ph type="title"/>
          </p:nvPr>
        </p:nvSpPr>
        <p:spPr>
          <a:xfrm>
            <a:off x="2916304" y="1753960"/>
            <a:ext cx="7497447" cy="2632226"/>
          </a:xfrm>
        </p:spPr>
        <p:txBody>
          <a:bodyPr/>
          <a:lstStyle/>
          <a:p>
            <a:r>
              <a:rPr lang="en-US" dirty="0">
                <a:solidFill>
                  <a:schemeClr val="tx1"/>
                </a:solidFill>
                <a:latin typeface="Algerian" panose="04020705040A02060702" pitchFamily="82" charset="0"/>
              </a:rPr>
              <a:t>THANKYOU!!!</a:t>
            </a:r>
            <a:endParaRPr lang="en-IN" dirty="0">
              <a:solidFill>
                <a:schemeClr val="tx1"/>
              </a:solidFill>
              <a:latin typeface="Algerian" panose="04020705040A02060702" pitchFamily="82" charset="0"/>
            </a:endParaRPr>
          </a:p>
        </p:txBody>
      </p:sp>
      <p:sp>
        <p:nvSpPr>
          <p:cNvPr id="6" name="TextBox 5">
            <a:extLst>
              <a:ext uri="{FF2B5EF4-FFF2-40B4-BE49-F238E27FC236}">
                <a16:creationId xmlns:a16="http://schemas.microsoft.com/office/drawing/2014/main" id="{F360ECE5-E270-F050-6E17-725D85D896B9}"/>
              </a:ext>
            </a:extLst>
          </p:cNvPr>
          <p:cNvSpPr txBox="1"/>
          <p:nvPr/>
        </p:nvSpPr>
        <p:spPr>
          <a:xfrm>
            <a:off x="6059733" y="2557386"/>
            <a:ext cx="1828800" cy="1828800"/>
          </a:xfrm>
          <a:prstGeom prst="rect">
            <a:avLst/>
          </a:prstGeom>
          <a:noFill/>
        </p:spPr>
        <p:txBody>
          <a:bodyPr wrap="square" rtlCol="0">
            <a:spAutoFit/>
          </a:bodyPr>
          <a:lstStyle/>
          <a:p>
            <a:pPr algn="l"/>
            <a:endParaRPr lang="en-US" dirty="0"/>
          </a:p>
        </p:txBody>
      </p:sp>
      <p:sp>
        <p:nvSpPr>
          <p:cNvPr id="8" name="TextBox 7">
            <a:extLst>
              <a:ext uri="{FF2B5EF4-FFF2-40B4-BE49-F238E27FC236}">
                <a16:creationId xmlns:a16="http://schemas.microsoft.com/office/drawing/2014/main" id="{8EFB0977-0DEB-D825-5852-7D909F1F1098}"/>
              </a:ext>
            </a:extLst>
          </p:cNvPr>
          <p:cNvSpPr txBox="1"/>
          <p:nvPr/>
        </p:nvSpPr>
        <p:spPr>
          <a:xfrm>
            <a:off x="6665028" y="4057002"/>
            <a:ext cx="4008322" cy="923330"/>
          </a:xfrm>
          <a:prstGeom prst="rect">
            <a:avLst/>
          </a:prstGeom>
          <a:noFill/>
        </p:spPr>
        <p:txBody>
          <a:bodyPr wrap="square" rtlCol="0">
            <a:spAutoFit/>
          </a:bodyPr>
          <a:lstStyle/>
          <a:p>
            <a:pPr algn="l"/>
            <a:endParaRPr lang="en-IN" dirty="0">
              <a:latin typeface="Algerian" panose="04020705040A02060702" pitchFamily="82"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1414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06BD98-E608-40A1-98A8-93D5976215CA}">
  <ds:schemaRefs>
    <ds:schemaRef ds:uri="http://schemas.microsoft.com/sharepoint/v3/contenttype/forms"/>
  </ds:schemaRefs>
</ds:datastoreItem>
</file>

<file path=customXml/itemProps3.xml><?xml version="1.0" encoding="utf-8"?>
<ds:datastoreItem xmlns:ds="http://schemas.openxmlformats.org/officeDocument/2006/customXml" ds:itemID="{6A86D9CC-0D9D-4BFE-B3F3-26F480BF8C8A}">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Modern classic block presentation</Template>
  <TotalTime>157</TotalTime>
  <Words>855</Words>
  <Application>Microsoft Office PowerPoint</Application>
  <PresentationFormat>Widescreen</PresentationFormat>
  <Paragraphs>93</Paragraphs>
  <Slides>13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Algerian</vt:lpstr>
      <vt:lpstr>Arial</vt:lpstr>
      <vt:lpstr>Times New Roman</vt:lpstr>
      <vt:lpstr>Tw Cen MT</vt:lpstr>
      <vt:lpstr>Tw Cen MT Condensed</vt:lpstr>
      <vt:lpstr>Wingdings</vt:lpstr>
      <vt:lpstr>Wingdings 3</vt:lpstr>
      <vt:lpstr>ModernClassicBlock-3</vt:lpstr>
      <vt:lpstr>Artificial and machine learning-based CAREER GUIDANCE TOOL</vt:lpstr>
      <vt:lpstr>ABSTRACT:</vt:lpstr>
      <vt:lpstr>Existing systems</vt:lpstr>
      <vt:lpstr>Proposed systems</vt:lpstr>
      <vt:lpstr>TOOLS FOR IMPLEMENTATION AND ITS JUSTIFICATION</vt:lpstr>
      <vt:lpstr>PowerPoint Presentation</vt:lpstr>
      <vt:lpstr>Module:</vt:lpstr>
      <vt:lpstr>PROGRAM:</vt:lpstr>
      <vt:lpstr>.</vt:lpstr>
      <vt:lpstr>SAMPLE OUTPUT:</vt:lpstr>
      <vt:lpstr>PowerPoint Presentation</vt:lpstr>
      <vt:lpstr>CONCLUSION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and machine learning based CARRER GUIDENCE TOOL</dc:title>
  <dc:creator>balasaminathan27072006@outlook.com</dc:creator>
  <cp:lastModifiedBy>Abinaya R</cp:lastModifiedBy>
  <cp:revision>6</cp:revision>
  <dcterms:created xsi:type="dcterms:W3CDTF">2024-07-20T06:59:12Z</dcterms:created>
  <dcterms:modified xsi:type="dcterms:W3CDTF">2025-08-08T15:38:50Z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